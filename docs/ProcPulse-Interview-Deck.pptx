
<file path=[Content_Types].xml><?xml version="1.0" encoding="utf-8"?>
<Types xmlns="http://schemas.openxmlformats.org/package/2006/content-types"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rged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1E058B4-1040-4C56-9B68-C8B32A926D1F}"/>
              </a:ext>
            </a:extLst>
          </p:cNvPr>
          <p:cNvSpPr/>
          <p:nvPr/>
        </p:nvSpPr>
        <p:spPr>
          <a:xfrm>
            <a:off x="8763000" y="1143000"/>
            <a:ext cx="2857500" cy="2857500"/>
          </a:xfrm>
          <a:prstGeom prst="donut">
            <a:avLst/>
          </a:prstGeom>
          <a:solidFill>
            <a:srgbClr val="38BDF8">
              <a:alpha val="12157"/>
            </a:srgbClr>
          </a:solidFill>
          <a:ln w="25400">
            <a:solidFill>
              <a:srgbClr val="38BDF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170ECDF-F103-4255-A089-B551075E04A9}"/>
              </a:ext>
            </a:extLst>
          </p:cNvPr>
          <p:cNvSpPr/>
          <p:nvPr/>
        </p:nvSpPr>
        <p:spPr>
          <a:xfrm>
            <a:off x="10287000" y="4095750"/>
            <a:ext cx="1428750" cy="1428750"/>
          </a:xfrm>
          <a:prstGeom prst="hexagon">
            <a:avLst/>
          </a:prstGeom>
          <a:solidFill>
            <a:srgbClr val="0B1120">
              <a:alpha val="0"/>
            </a:srgbClr>
          </a:solidFill>
          <a:ln w="19050">
            <a:solidFill>
              <a:srgbClr val="1E3A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D8E317B-7D50-41EB-9906-12BA9308FE94}"/>
              </a:ext>
            </a:extLst>
          </p:cNvPr>
          <p:cNvSpPr txBox="1"/>
          <p:nvPr/>
        </p:nvSpPr>
        <p:spPr>
          <a:xfrm>
            <a:off x="838200" y="1619250"/>
            <a:ext cx="8382000" cy="128016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1F5F9"/>
                </a:solidFill>
              </a:rPr>
              <a:t>ProcPulse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13C90A7-6A2C-4417-A148-9122FA36046F}"/>
              </a:ext>
            </a:extLst>
          </p:cNvPr>
          <p:cNvSpPr/>
          <p:nvPr/>
        </p:nvSpPr>
        <p:spPr>
          <a:xfrm>
            <a:off x="876300" y="3067050"/>
            <a:ext cx="4000500" cy="381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863FC1-1BB3-43C6-B81D-38059B6BA5BA}"/>
              </a:ext>
            </a:extLst>
          </p:cNvPr>
          <p:cNvSpPr txBox="1"/>
          <p:nvPr/>
        </p:nvSpPr>
        <p:spPr>
          <a:xfrm>
            <a:off x="857250" y="3352800"/>
            <a:ext cx="7810500" cy="4191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38BDF8"/>
                </a:solidFill>
              </a:rPr>
              <a:t>A C++17 Linux System Monitor &amp; Device Explorer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9A5FC07-212F-42F3-B64F-58D5810E7A25}"/>
              </a:ext>
            </a:extLst>
          </p:cNvPr>
          <p:cNvSpPr txBox="1"/>
          <p:nvPr/>
        </p:nvSpPr>
        <p:spPr>
          <a:xfrm>
            <a:off x="857250" y="3924300"/>
            <a:ext cx="66675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94A3B8"/>
                </a:solidFill>
              </a:rPr>
              <a:t>Module-9 Capstone — individual project defense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E2E8F0"/>
                </a:solidFill>
              </a:rPr>
              <a:t>Presented by Rudra Prakash Nayak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F5FAC02-E660-4902-9C15-F8BAE21F98D7}"/>
              </a:ext>
            </a:extLst>
          </p:cNvPr>
          <p:cNvSpPr/>
          <p:nvPr/>
        </p:nvSpPr>
        <p:spPr>
          <a:xfrm>
            <a:off x="838200" y="5295900"/>
            <a:ext cx="2552700" cy="5143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9422635-1F3C-49DF-AB58-A0B1B23263C5}"/>
              </a:ext>
            </a:extLst>
          </p:cNvPr>
          <p:cNvSpPr txBox="1"/>
          <p:nvPr/>
        </p:nvSpPr>
        <p:spPr>
          <a:xfrm>
            <a:off x="838200" y="5410200"/>
            <a:ext cx="255270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E2E8F0"/>
                </a:solidFill>
              </a:rPr>
              <a:t>reads /proc · /sys/class · /dev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DCE080B-9B9F-4D8F-8EDD-512E03590CDD}"/>
              </a:ext>
            </a:extLst>
          </p:cNvPr>
          <p:cNvSpPr/>
          <p:nvPr/>
        </p:nvSpPr>
        <p:spPr>
          <a:xfrm>
            <a:off x="3581400" y="5295900"/>
            <a:ext cx="2057400" cy="5143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997F038-C597-4AFB-850A-2898F6961C9F}"/>
              </a:ext>
            </a:extLst>
          </p:cNvPr>
          <p:cNvSpPr txBox="1"/>
          <p:nvPr/>
        </p:nvSpPr>
        <p:spPr>
          <a:xfrm>
            <a:off x="3581400" y="5410200"/>
            <a:ext cx="205740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E2E8F0"/>
                </a:solidFill>
              </a:rPr>
              <a:t>0 external libraries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05311E10-1D4F-4820-9EDE-12B615E90B6B}"/>
              </a:ext>
            </a:extLst>
          </p:cNvPr>
          <p:cNvSpPr/>
          <p:nvPr/>
        </p:nvSpPr>
        <p:spPr>
          <a:xfrm>
            <a:off x="5829300" y="5295900"/>
            <a:ext cx="2552700" cy="5143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DE32138-B641-47CD-801B-77E86D84A95D}"/>
              </a:ext>
            </a:extLst>
          </p:cNvPr>
          <p:cNvSpPr txBox="1"/>
          <p:nvPr/>
        </p:nvSpPr>
        <p:spPr>
          <a:xfrm>
            <a:off x="5829300" y="5410200"/>
            <a:ext cx="2552700" cy="285750"/>
          </a:xfrm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E2E8F0"/>
                </a:solidFill>
              </a:rPr>
              <a:t>background sampler thread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2F80CBF-9C96-46AF-AE68-DBA5FA46E7B9}"/>
              </a:ext>
            </a:extLst>
          </p:cNvPr>
          <p:cNvSpPr txBox="1"/>
          <p:nvPr/>
        </p:nvSpPr>
        <p:spPr>
          <a:xfrm>
            <a:off x="857250" y="6248400"/>
            <a:ext cx="476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4748B"/>
                </a:solidFill>
              </a:rPr>
              <a:t>github.com/rudraprakashnayak/procpulse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2B0F5BF-F94A-4EE4-BF07-96CE6E8C793C}"/>
              </a:ext>
            </a:extLst>
          </p:cNvPr>
          <p:cNvSpPr txBox="1"/>
          <p:nvPr/>
        </p:nvSpPr>
        <p:spPr>
          <a:xfrm>
            <a:off x="838200" y="495300"/>
            <a:ext cx="8572500" cy="571500"/>
          </a:xfrm>
        </p:spPr>
        <p:txBody>
          <a:bodyPr wrap="square" rtlCol="0" lIns="0" tIns="0" rIns="0" bIns="0" anchor="t"/>
          <a:lstStyle/>
          <a:p>
            <a:pPr algn="l"/>
            <a:r>
              <a:rPr sz="3400" b="1">
                <a:solidFill>
                  <a:srgbClr val="F1F5F9"/>
                </a:solidFill>
              </a:rPr>
              <a:t>ProcPulse at a glance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7C688B4-5BBB-4B08-96A7-4C0CEA76484C}"/>
              </a:ext>
            </a:extLst>
          </p:cNvPr>
          <p:cNvSpPr txBox="1"/>
          <p:nvPr/>
        </p:nvSpPr>
        <p:spPr>
          <a:xfrm>
            <a:off x="838200" y="1104900"/>
            <a:ext cx="104775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</a:rPr>
              <a:t>Four collectors, one sampler thread, three ways to present — C++17 standard library and POSIX only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BA8CE00-AA77-4A60-8E36-6C65B307F1FD}"/>
              </a:ext>
            </a:extLst>
          </p:cNvPr>
          <p:cNvSpPr/>
          <p:nvPr/>
        </p:nvSpPr>
        <p:spPr>
          <a:xfrm>
            <a:off x="8382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6C11E35-8A78-4771-9B99-BC891A85363A}"/>
              </a:ext>
            </a:extLst>
          </p:cNvPr>
          <p:cNvSpPr txBox="1"/>
          <p:nvPr/>
        </p:nvSpPr>
        <p:spPr>
          <a:xfrm>
            <a:off x="10668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5AEF42F-95B8-4D24-9550-869A8281F9D2}"/>
              </a:ext>
            </a:extLst>
          </p:cNvPr>
          <p:cNvSpPr txBox="1"/>
          <p:nvPr/>
        </p:nvSpPr>
        <p:spPr>
          <a:xfrm>
            <a:off x="10668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collectors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4EC0ED2-580F-43CB-85DB-CF750CC80BB8}"/>
              </a:ext>
            </a:extLst>
          </p:cNvPr>
          <p:cNvSpPr txBox="1"/>
          <p:nvPr/>
        </p:nvSpPr>
        <p:spPr>
          <a:xfrm>
            <a:off x="10668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cpu · memory · processes · devices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6BA8721-94A8-4CB5-85A1-E95F22BC7D73}"/>
              </a:ext>
            </a:extLst>
          </p:cNvPr>
          <p:cNvSpPr/>
          <p:nvPr/>
        </p:nvSpPr>
        <p:spPr>
          <a:xfrm>
            <a:off x="35433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22E7A49-58AA-49A1-837F-62EC485213DE}"/>
              </a:ext>
            </a:extLst>
          </p:cNvPr>
          <p:cNvSpPr txBox="1"/>
          <p:nvPr/>
        </p:nvSpPr>
        <p:spPr>
          <a:xfrm>
            <a:off x="37719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91EDE15-8B3F-4015-9F8D-E7D49A23995B}"/>
              </a:ext>
            </a:extLst>
          </p:cNvPr>
          <p:cNvSpPr txBox="1"/>
          <p:nvPr/>
        </p:nvSpPr>
        <p:spPr>
          <a:xfrm>
            <a:off x="37719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run modes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07239AB-BC42-434F-ABC4-B85B9A848941}"/>
              </a:ext>
            </a:extLst>
          </p:cNvPr>
          <p:cNvSpPr txBox="1"/>
          <p:nvPr/>
        </p:nvSpPr>
        <p:spPr>
          <a:xfrm>
            <a:off x="37719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interactive menu · --once · --live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BDEE7F4-923A-4791-889E-8ABBB8E05966}"/>
              </a:ext>
            </a:extLst>
          </p:cNvPr>
          <p:cNvSpPr/>
          <p:nvPr/>
        </p:nvSpPr>
        <p:spPr>
          <a:xfrm>
            <a:off x="62484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9436D1D-EB68-499B-809A-2440C5B33306}"/>
              </a:ext>
            </a:extLst>
          </p:cNvPr>
          <p:cNvSpPr txBox="1"/>
          <p:nvPr/>
        </p:nvSpPr>
        <p:spPr>
          <a:xfrm>
            <a:off x="64770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0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C9A4DAA-49B1-44D4-89F9-1560529BBEED}"/>
              </a:ext>
            </a:extLst>
          </p:cNvPr>
          <p:cNvSpPr txBox="1"/>
          <p:nvPr/>
        </p:nvSpPr>
        <p:spPr>
          <a:xfrm>
            <a:off x="64770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external dependencies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C11C87-AC27-47C8-A58E-CC552823780B}"/>
              </a:ext>
            </a:extLst>
          </p:cNvPr>
          <p:cNvSpPr txBox="1"/>
          <p:nvPr/>
        </p:nvSpPr>
        <p:spPr>
          <a:xfrm>
            <a:off x="64770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C++17 standard library + POSIX APIs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D7B4628C-7644-4A15-B342-012B1CA05B21}"/>
              </a:ext>
            </a:extLst>
          </p:cNvPr>
          <p:cNvSpPr/>
          <p:nvPr/>
        </p:nvSpPr>
        <p:spPr>
          <a:xfrm>
            <a:off x="8953500" y="1809750"/>
            <a:ext cx="2400300" cy="2381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D4AC645D-541C-4DBC-BD9E-ED2873912BD1}"/>
              </a:ext>
            </a:extLst>
          </p:cNvPr>
          <p:cNvSpPr txBox="1"/>
          <p:nvPr/>
        </p:nvSpPr>
        <p:spPr>
          <a:xfrm>
            <a:off x="9182100" y="2038350"/>
            <a:ext cx="1943100" cy="952500"/>
          </a:xfrm>
        </p:spPr>
        <p:txBody>
          <a:bodyPr wrap="square" rtlCol="0" lIns="0" tIns="0" rIns="0" bIns="0" anchor="t"/>
          <a:lstStyle/>
          <a:p>
            <a:pPr algn="l"/>
            <a:r>
              <a:rPr sz="56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48CCB779-16F3-4ADA-B0F4-96C89C4D1B9C}"/>
              </a:ext>
            </a:extLst>
          </p:cNvPr>
          <p:cNvSpPr txBox="1"/>
          <p:nvPr/>
        </p:nvSpPr>
        <p:spPr>
          <a:xfrm>
            <a:off x="9182100" y="3048000"/>
            <a:ext cx="19431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test layers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51B95DD-7D65-4277-8378-8D326B17CAAD}"/>
              </a:ext>
            </a:extLst>
          </p:cNvPr>
          <p:cNvSpPr txBox="1"/>
          <p:nvPr/>
        </p:nvSpPr>
        <p:spPr>
          <a:xfrm>
            <a:off x="9182100" y="3352800"/>
            <a:ext cx="1943100" cy="571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</a:pPr>
            <a:r>
              <a:rPr sz="1150">
                <a:solidFill>
                  <a:srgbClr val="94A3B8"/>
                </a:solidFill>
              </a:rPr>
              <a:t>fixture unit tests + integration script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4ECE628-D7B4-4DE6-8B6D-E38E1321D655}"/>
              </a:ext>
            </a:extLst>
          </p:cNvPr>
          <p:cNvSpPr/>
          <p:nvPr/>
        </p:nvSpPr>
        <p:spPr>
          <a:xfrm>
            <a:off x="838200" y="4572000"/>
            <a:ext cx="10515600" cy="1143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AC83D16-58DD-4A93-91B6-B56E2FE13361}"/>
              </a:ext>
            </a:extLst>
          </p:cNvPr>
          <p:cNvSpPr txBox="1"/>
          <p:nvPr/>
        </p:nvSpPr>
        <p:spPr>
          <a:xfrm>
            <a:off x="1104900" y="4705350"/>
            <a:ext cx="9982200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BBF24"/>
                </a:solidFill>
              </a:rPr>
              <a:t>Built in six documented stages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E2E8F0"/>
                </a:solidFill>
              </a:rPr>
              <a:t>git tags stage-1 … stage-6 + v1.0 — intro, PRD, design, implementation, tests, final report</a:t>
            </a:r>
          </a:p>
          <a:p>
            <a:pPr algn="l"/>
            <a:r>
              <a:rPr sz="1200">
                <a:solidFill>
                  <a:srgbClr val="94A3B8"/>
                </a:solidFill>
              </a:rPr>
              <a:t>every commit maps to one capstone stage; the README carries the reference-project banner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D0D7C39-BF2A-4F6E-856E-7B39E5A10BDF}"/>
              </a:ext>
            </a:extLst>
          </p:cNvPr>
          <p:cNvSpPr txBox="1"/>
          <p:nvPr/>
        </p:nvSpPr>
        <p:spPr>
          <a:xfrm>
            <a:off x="838200" y="6096000"/>
            <a:ext cx="8572500" cy="247650"/>
          </a:xfrm>
        </p:spPr>
        <p:txBody>
          <a:bodyPr wrap="square" rtlCol="0" lIns="0" tIns="0" rIns="0" bIns="0" anchor="t"/>
          <a:lstStyle/>
          <a:p>
            <a:pPr algn="l"/>
            <a:r>
              <a:rPr sz="1200">
                <a:solidFill>
                  <a:srgbClr val="64748B"/>
                </a:solidFill>
              </a:rPr>
              <a:t>procfs · sysfs · devfs — the kernel's own reporting interface, read straight from C++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5421BF2-03AA-41D1-B125-9A68F56947B4}"/>
              </a:ext>
            </a:extLst>
          </p:cNvPr>
          <p:cNvSpPr txBox="1"/>
          <p:nvPr/>
        </p:nvSpPr>
        <p:spPr>
          <a:xfrm>
            <a:off x="838200" y="419100"/>
            <a:ext cx="104775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1F5F9"/>
                </a:solidFill>
              </a:rPr>
              <a:t>Architecture — one pipeline, left to right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27A98DC-D874-4DBD-82B4-145C5C51B537}"/>
              </a:ext>
            </a:extLst>
          </p:cNvPr>
          <p:cNvSpPr txBox="1"/>
          <p:nvPr/>
        </p:nvSpPr>
        <p:spPr>
          <a:xfrm>
            <a:off x="838200" y="9334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4A3B8"/>
                </a:solidFill>
              </a:rPr>
              <a:t>kernel virtual filesystems → fs_util → collectors → sampler thread (mutex + condition variable) → dashboard / --live / --once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F9D7B330-8FA9-4285-94C7-A53C0ADAA53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333500" y="1238250"/>
            <a:ext cx="9525000" cy="5353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1211A88-4104-421E-92B4-CD782B0C3755}"/>
              </a:ext>
            </a:extLst>
          </p:cNvPr>
          <p:cNvSpPr txBox="1"/>
          <p:nvPr/>
        </p:nvSpPr>
        <p:spPr>
          <a:xfrm>
            <a:off x="838200" y="457200"/>
            <a:ext cx="952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Where the data comes from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96AE99-4222-4602-937B-F62456579175}"/>
              </a:ext>
            </a:extLst>
          </p:cNvPr>
          <p:cNvSpPr txBox="1"/>
          <p:nvPr/>
        </p:nvSpPr>
        <p:spPr>
          <a:xfrm>
            <a:off x="838200" y="10096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4A3B8"/>
                </a:solidFill>
              </a:rPr>
              <a:t>Everything ProcPulse knows, the kernel already publishes — the job is parsing it correctly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FA944E4-C9E3-42D6-A4CC-C2B0763284CA}"/>
              </a:ext>
            </a:extLst>
          </p:cNvPr>
          <p:cNvSpPr/>
          <p:nvPr/>
        </p:nvSpPr>
        <p:spPr>
          <a:xfrm>
            <a:off x="838200" y="1524000"/>
            <a:ext cx="3352800" cy="4191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444C3F8-7956-45BA-BD5A-7D1E97F7AB5D}"/>
              </a:ext>
            </a:extLst>
          </p:cNvPr>
          <p:cNvSpPr txBox="1"/>
          <p:nvPr/>
        </p:nvSpPr>
        <p:spPr>
          <a:xfrm>
            <a:off x="1066800" y="1790700"/>
            <a:ext cx="2895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  <a:ea typeface="Consolas"/>
              </a:rPr>
              <a:t>/proc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D693180-4FA6-40AE-B41C-58D14F8ED9BA}"/>
              </a:ext>
            </a:extLst>
          </p:cNvPr>
          <p:cNvSpPr txBox="1"/>
          <p:nvPr/>
        </p:nvSpPr>
        <p:spPr>
          <a:xfrm>
            <a:off x="1066800" y="2247900"/>
            <a:ext cx="28956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stat — CPU jiffies since boot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loadavg — 1 / 5 / 15 minute load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meminfo — memory counters in kB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&lt;pid&gt;/comm + &lt;pid&gt;/stat —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process name and state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numeric directories = live PIDs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2B22DB3-AEFA-4078-A44D-06BA07E8A80A}"/>
              </a:ext>
            </a:extLst>
          </p:cNvPr>
          <p:cNvSpPr/>
          <p:nvPr/>
        </p:nvSpPr>
        <p:spPr>
          <a:xfrm>
            <a:off x="4419600" y="1524000"/>
            <a:ext cx="3352800" cy="4191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F096B70-3071-424B-B5F1-745B803AAE8A}"/>
              </a:ext>
            </a:extLst>
          </p:cNvPr>
          <p:cNvSpPr txBox="1"/>
          <p:nvPr/>
        </p:nvSpPr>
        <p:spPr>
          <a:xfrm>
            <a:off x="4648200" y="1790700"/>
            <a:ext cx="2895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  <a:ea typeface="Consolas"/>
              </a:rPr>
              <a:t>/sys/class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7643DFA-D1CC-45FE-9378-1047CFC7F229}"/>
              </a:ext>
            </a:extLst>
          </p:cNvPr>
          <p:cNvSpPr txBox="1"/>
          <p:nvPr/>
        </p:nvSpPr>
        <p:spPr>
          <a:xfrm>
            <a:off x="4648200" y="2247900"/>
            <a:ext cx="28956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subsystem → device directory tree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block/sda · net/eth0 ·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thermal/thermal_zone0 …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200">
                <a:solidFill>
                  <a:srgbClr val="94A3B8"/>
                </a:solidFill>
              </a:rPr>
              <a:t>the kernel's canonical view of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devices, always mounted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EB4D9EC-814E-4E68-B66C-102390C13F28}"/>
              </a:ext>
            </a:extLst>
          </p:cNvPr>
          <p:cNvSpPr/>
          <p:nvPr/>
        </p:nvSpPr>
        <p:spPr>
          <a:xfrm>
            <a:off x="8001000" y="1524000"/>
            <a:ext cx="3352800" cy="41910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835614C-1DCA-4150-8340-3E3CFEC1473A}"/>
              </a:ext>
            </a:extLst>
          </p:cNvPr>
          <p:cNvSpPr txBox="1"/>
          <p:nvPr/>
        </p:nvSpPr>
        <p:spPr>
          <a:xfrm>
            <a:off x="8229600" y="1790700"/>
            <a:ext cx="2895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onsolas"/>
                <a:ea typeface="Consolas"/>
              </a:rPr>
              <a:t>/dev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661C9AD-910A-4BF2-838F-981C234B122C}"/>
              </a:ext>
            </a:extLst>
          </p:cNvPr>
          <p:cNvSpPr txBox="1"/>
          <p:nvPr/>
        </p:nvSpPr>
        <p:spPr>
          <a:xfrm>
            <a:off x="8229600" y="2247900"/>
            <a:ext cx="2895600" cy="3143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device nodes exposed to userspace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counted, not parsed — a quick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300">
                <a:solidFill>
                  <a:srgbClr val="E2E8F0"/>
                </a:solidFill>
              </a:rPr>
              <a:t>signal of system exposure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all paths prefixed with --root,</a:t>
            </a:r>
          </a:p>
          <a:p>
            <a:pPr algn="l">
              <a:lnSpc>
                <a:spcPct val="135000"/>
              </a:lnSpc>
            </a:pPr>
            <a:r>
              <a:rPr sz="1200">
                <a:solidFill>
                  <a:srgbClr val="94A3B8"/>
                </a:solidFill>
              </a:rPr>
              <a:t>so tests run against fixtures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7BA7677-570E-476A-B1D2-A52228D1B015}"/>
              </a:ext>
            </a:extLst>
          </p:cNvPr>
          <p:cNvSpPr txBox="1"/>
          <p:nvPr/>
        </p:nvSpPr>
        <p:spPr>
          <a:xfrm>
            <a:off x="838200" y="5943600"/>
            <a:ext cx="105156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250">
                <a:solidFill>
                  <a:srgbClr val="94A3B8"/>
                </a:solidFill>
              </a:rPr>
              <a:t>One fs_util layer owns ifstream / opendir / readdir / stat — collectors never touch the OS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A443B01-54DA-47F1-B04D-6E28B9280ADF}"/>
              </a:ext>
            </a:extLst>
          </p:cNvPr>
          <p:cNvSpPr txBox="1"/>
          <p:nvPr/>
        </p:nvSpPr>
        <p:spPr>
          <a:xfrm>
            <a:off x="838200" y="4572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CPU usage is a delta, never a reading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62CA8DE-4FC5-4A0B-92F5-8BCBD6D29564}"/>
              </a:ext>
            </a:extLst>
          </p:cNvPr>
          <p:cNvSpPr txBox="1"/>
          <p:nvPr/>
        </p:nvSpPr>
        <p:spPr>
          <a:xfrm>
            <a:off x="838200" y="1771650"/>
            <a:ext cx="409575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94A3B8"/>
                </a:solidFill>
              </a:rPr>
              <a:t>usage between two fixture samples, 250 ms apart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B8DA594-5B1C-4692-8F84-26D48EF8471F}"/>
              </a:ext>
            </a:extLst>
          </p:cNvPr>
          <p:cNvSpPr txBox="1"/>
          <p:nvPr/>
        </p:nvSpPr>
        <p:spPr>
          <a:xfrm>
            <a:off x="838200" y="2095500"/>
            <a:ext cx="4095750" cy="1238250"/>
          </a:xfrm>
        </p:spPr>
        <p:txBody>
          <a:bodyPr wrap="square" rtlCol="0" lIns="0" tIns="0" rIns="0" bIns="0" anchor="t"/>
          <a:lstStyle/>
          <a:p>
            <a:pPr algn="l"/>
            <a:r>
              <a:rPr sz="8000" b="1">
                <a:solidFill>
                  <a:srgbClr val="38BDF8"/>
                </a:solidFill>
              </a:rPr>
              <a:t>15.0</a:t>
            </a:r>
            <a:r>
              <a:rPr sz="4000" b="1">
                <a:solidFill>
                  <a:srgbClr val="38BDF8"/>
                </a:solidFill>
              </a:rPr>
              <a:t> %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148DFE1-A18D-4AC1-9091-9EDE361380B0}"/>
              </a:ext>
            </a:extLst>
          </p:cNvPr>
          <p:cNvSpPr txBox="1"/>
          <p:nvPr/>
        </p:nvSpPr>
        <p:spPr>
          <a:xfrm>
            <a:off x="838200" y="3486150"/>
            <a:ext cx="409575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Consolas"/>
                <a:ea typeface="Consolas"/>
              </a:rPr>
              <a:t>Δbusy / Δtotal = 150 / 1000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DC5BB56-0CBC-4D3E-AD3F-C3090C6EED33}"/>
              </a:ext>
            </a:extLst>
          </p:cNvPr>
          <p:cNvSpPr txBox="1"/>
          <p:nvPr/>
        </p:nvSpPr>
        <p:spPr>
          <a:xfrm>
            <a:off x="838200" y="3924300"/>
            <a:ext cx="409575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94A3B8"/>
                </a:solidFill>
              </a:rPr>
              <a:t>fixtures: cpu 100 0 50 800 → cpu 200 0 100 900; busy() excludes idle and iowait because the CPU is not working there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92B950D-AC83-4B76-B8F3-0286B9896BD0}"/>
              </a:ext>
            </a:extLst>
          </p:cNvPr>
          <p:cNvSpPr/>
          <p:nvPr/>
        </p:nvSpPr>
        <p:spPr>
          <a:xfrm>
            <a:off x="5334000" y="1619250"/>
            <a:ext cx="6019800" cy="400050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F466266-B027-497A-BE24-A34B6D830EEA}"/>
              </a:ext>
            </a:extLst>
          </p:cNvPr>
          <p:cNvSpPr txBox="1"/>
          <p:nvPr/>
        </p:nvSpPr>
        <p:spPr>
          <a:xfrm>
            <a:off x="5600700" y="1847850"/>
            <a:ext cx="54864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E2E8F0"/>
                </a:solidFill>
              </a:rPr>
              <a:t>Why two samples?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/proc/stat counters are cumulative since boot — one sample only gives a ratio since boot, which is meaningless.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Two samples define a window: usage = Δbusy / Δtotal over that window.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busy() = user + nice + system + irq + softirq; idle and iowait stay out.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400">
                <a:solidFill>
                  <a:srgbClr val="E2E8F0"/>
                </a:solidFill>
              </a:rPr>
              <a:t>If Δtotal == 0 (idle box, or fixtures) return 0.0 — no division by zero.</a:t>
            </a:r>
          </a:p>
          <a:p>
            <a:pPr algn="l">
              <a:lnSpc>
                <a:spcPct val="135000"/>
              </a:lnSpc>
            </a:pPr>
            <a:r>
              <a:rPr sz="1300">
                <a:solidFill>
                  <a:srgbClr val="94A3B8"/>
                </a:solidFill>
              </a:rPr>
              <a:t>The sampler keeps previous_cpu_ privately, so only its own thread touches it — no lock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68AEA53-9219-4BED-AA70-25A0427F9CE4}"/>
              </a:ext>
            </a:extLst>
          </p:cNvPr>
          <p:cNvSpPr txBox="1"/>
          <p:nvPr/>
        </p:nvSpPr>
        <p:spPr>
          <a:xfrm>
            <a:off x="838200" y="4572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Two parsing traps I had to solve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3F43F84-2F51-4580-95FA-2335EA7FD06E}"/>
              </a:ext>
            </a:extLst>
          </p:cNvPr>
          <p:cNvSpPr/>
          <p:nvPr/>
        </p:nvSpPr>
        <p:spPr>
          <a:xfrm>
            <a:off x="838200" y="1428750"/>
            <a:ext cx="5105400" cy="4095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E28DE09-9FF7-4098-827B-7CE99C3FAA1D}"/>
              </a:ext>
            </a:extLst>
          </p:cNvPr>
          <p:cNvSpPr txBox="1"/>
          <p:nvPr/>
        </p:nvSpPr>
        <p:spPr>
          <a:xfrm>
            <a:off x="1066800" y="1657350"/>
            <a:ext cx="46482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38BDF8"/>
                </a:solidFill>
              </a:rPr>
              <a:t>Memory: used ≠ total − free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MemFree counts only completely untouched pages.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Linux deliberately fills spare RAM with disk cache and buffers — reclaimable, not used.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MemAvailable is the kernel's estimate of what a new app could actually allocate.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 b="1">
                <a:solidFill>
                  <a:srgbClr val="FBBF24"/>
                </a:solidFill>
                <a:latin typeface="Consolas"/>
                <a:ea typeface="Consolas"/>
              </a:rPr>
              <a:t>used = total − available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94A3B8"/>
                </a:solidFill>
              </a:rPr>
              <a:t>fixture check: 1000 − 400 = 600 → 60.0 % exactly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D8EFA3E-8BA1-4A8C-A592-196F78C38E11}"/>
              </a:ext>
            </a:extLst>
          </p:cNvPr>
          <p:cNvSpPr/>
          <p:nvPr/>
        </p:nvSpPr>
        <p:spPr>
          <a:xfrm>
            <a:off x="6248400" y="1428750"/>
            <a:ext cx="5105400" cy="4095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AECD505-6829-454D-8114-233E0BA7A9B8}"/>
              </a:ext>
            </a:extLst>
          </p:cNvPr>
          <p:cNvSpPr txBox="1"/>
          <p:nvPr/>
        </p:nvSpPr>
        <p:spPr>
          <a:xfrm>
            <a:off x="6477000" y="1657350"/>
            <a:ext cx="4648200" cy="36195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800" b="1">
                <a:solidFill>
                  <a:srgbClr val="38BDF8"/>
                </a:solidFill>
              </a:rPr>
              <a:t>Processes: the name field lies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>
                <a:solidFill>
                  <a:srgbClr val="E2E8F0"/>
                </a:solidFill>
                <a:latin typeface="Consolas"/>
                <a:ea typeface="Consolas"/>
              </a:rPr>
              <a:t>/proc/&lt;pid&gt;/stat: pid (comm) state …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comm sits in parentheses and may itself contain spaces or parentheses — e.g. (kworker/0:1).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50">
                <a:solidFill>
                  <a:srgbClr val="E2E8F0"/>
                </a:solidFill>
              </a:rPr>
              <a:t>Naive splitting on spaces misparses every field after it.</a:t>
            </a:r>
          </a:p>
          <a:p>
            <a:pPr algn="l">
              <a:lnSpc>
                <a:spcPct val="135000"/>
              </a:lnSpc>
              <a:spcAft>
                <a:spcPts val="1000"/>
              </a:spcAft>
            </a:pPr>
            <a:r>
              <a:rPr sz="1300" b="1">
                <a:solidFill>
                  <a:srgbClr val="FBBF24"/>
                </a:solidFill>
                <a:latin typeface="Consolas"/>
                <a:ea typeface="Consolas"/>
              </a:rPr>
              <a:t>name = first '(' … last ')'</a:t>
            </a:r>
          </a:p>
          <a:p>
            <a:pPr algn="l">
              <a:lnSpc>
                <a:spcPct val="135000"/>
              </a:lnSpc>
            </a:pPr>
            <a:r>
              <a:rPr sz="1250">
                <a:solidFill>
                  <a:srgbClr val="94A3B8"/>
                </a:solidFill>
              </a:rPr>
              <a:t>state = first non-space char after ')'; pid = atoi of the prefix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A517D63-BCF3-4970-BA4E-CD3C24DB5E37}"/>
              </a:ext>
            </a:extLst>
          </p:cNvPr>
          <p:cNvSpPr txBox="1"/>
          <p:nvPr/>
        </p:nvSpPr>
        <p:spPr>
          <a:xfrm>
            <a:off x="838200" y="5772150"/>
            <a:ext cx="10515600" cy="476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94A3B8"/>
                </a:solidFill>
              </a:rPr>
              <a:t>Both traps are covered by unit tests that feed exact fixture strings into the pure parse functions — no kernel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E60729C-10CA-4BED-8C79-70457D453159}"/>
              </a:ext>
            </a:extLst>
          </p:cNvPr>
          <p:cNvSpPr txBox="1"/>
          <p:nvPr/>
        </p:nvSpPr>
        <p:spPr>
          <a:xfrm>
            <a:off x="838200" y="419100"/>
            <a:ext cx="104775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The sampler thread — one tick, four beats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93D1B1-DE34-40E4-BE77-69602EEB25AF}"/>
              </a:ext>
            </a:extLst>
          </p:cNvPr>
          <p:cNvSpPr txBox="1"/>
          <p:nvPr/>
        </p:nvSpPr>
        <p:spPr>
          <a:xfrm>
            <a:off x="838200" y="971550"/>
            <a:ext cx="105156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300">
                <a:solidFill>
                  <a:srgbClr val="94A3B8"/>
                </a:solidFill>
              </a:rPr>
              <a:t>Sampler::loop() runs on its own std::thread; the main thread only ever reads published snapshots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93B77BF-E663-4303-B127-09D29D34C35A}"/>
              </a:ext>
            </a:extLst>
          </p:cNvPr>
          <p:cNvSpPr/>
          <p:nvPr/>
        </p:nvSpPr>
        <p:spPr>
          <a:xfrm>
            <a:off x="838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35779AF-F6AD-45C4-87A4-01937C380647}"/>
              </a:ext>
            </a:extLst>
          </p:cNvPr>
          <p:cNvSpPr txBox="1"/>
          <p:nvPr/>
        </p:nvSpPr>
        <p:spPr>
          <a:xfrm>
            <a:off x="1028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1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6F53F9F-5B9F-4FBB-902F-4B8301DD7132}"/>
              </a:ext>
            </a:extLst>
          </p:cNvPr>
          <p:cNvSpPr txBox="1"/>
          <p:nvPr/>
        </p:nvSpPr>
        <p:spPr>
          <a:xfrm>
            <a:off x="1028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Sample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7CC8306-0E5F-41FF-A137-F64FBC73CC1D}"/>
              </a:ext>
            </a:extLst>
          </p:cNvPr>
          <p:cNvSpPr txBox="1"/>
          <p:nvPr/>
        </p:nvSpPr>
        <p:spPr>
          <a:xfrm>
            <a:off x="1028700" y="2495550"/>
            <a:ext cx="20574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all four collectors read /proc, /sys/class and /dev once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2CA8066-C893-4626-8647-33591582C6D9}"/>
              </a:ext>
            </a:extLst>
          </p:cNvPr>
          <p:cNvSpPr/>
          <p:nvPr/>
        </p:nvSpPr>
        <p:spPr>
          <a:xfrm>
            <a:off x="3333750" y="2314575"/>
            <a:ext cx="171450" cy="2286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9C95F52-E70B-4186-88B6-54B050764329}"/>
              </a:ext>
            </a:extLst>
          </p:cNvPr>
          <p:cNvSpPr/>
          <p:nvPr/>
        </p:nvSpPr>
        <p:spPr>
          <a:xfrm>
            <a:off x="3505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B787F47-4FAB-4CF0-86AD-A44810AF1064}"/>
              </a:ext>
            </a:extLst>
          </p:cNvPr>
          <p:cNvSpPr txBox="1"/>
          <p:nvPr/>
        </p:nvSpPr>
        <p:spPr>
          <a:xfrm>
            <a:off x="3695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87E9D71-3EA6-4D4D-8F10-3B173178D63D}"/>
              </a:ext>
            </a:extLst>
          </p:cNvPr>
          <p:cNvSpPr txBox="1"/>
          <p:nvPr/>
        </p:nvSpPr>
        <p:spPr>
          <a:xfrm>
            <a:off x="3695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Delta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0EA7B2D-7089-4A97-ABEB-1717D8806447}"/>
              </a:ext>
            </a:extLst>
          </p:cNvPr>
          <p:cNvSpPr txBox="1"/>
          <p:nvPr/>
        </p:nvSpPr>
        <p:spPr>
          <a:xfrm>
            <a:off x="3695700" y="2495550"/>
            <a:ext cx="20574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cpu % = usage_between(previous, now); first tick reports 0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A48DB197-EC4B-4E99-BA7F-4FEA5088D664}"/>
              </a:ext>
            </a:extLst>
          </p:cNvPr>
          <p:cNvSpPr/>
          <p:nvPr/>
        </p:nvSpPr>
        <p:spPr>
          <a:xfrm>
            <a:off x="6000750" y="2314575"/>
            <a:ext cx="171450" cy="2286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6D172FCA-B51B-4D39-8AF7-90BD96324FF0}"/>
              </a:ext>
            </a:extLst>
          </p:cNvPr>
          <p:cNvSpPr/>
          <p:nvPr/>
        </p:nvSpPr>
        <p:spPr>
          <a:xfrm>
            <a:off x="6172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AC9B45D-2B9F-48F2-B7F9-CF90FAA4561F}"/>
              </a:ext>
            </a:extLst>
          </p:cNvPr>
          <p:cNvSpPr txBox="1"/>
          <p:nvPr/>
        </p:nvSpPr>
        <p:spPr>
          <a:xfrm>
            <a:off x="6362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3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845579B-1C99-4AE6-AEB3-E00F5C828447}"/>
              </a:ext>
            </a:extLst>
          </p:cNvPr>
          <p:cNvSpPr txBox="1"/>
          <p:nvPr/>
        </p:nvSpPr>
        <p:spPr>
          <a:xfrm>
            <a:off x="6362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Publish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9B4C17E7-72BE-47C2-8054-1698C3252958}"/>
              </a:ext>
            </a:extLst>
          </p:cNvPr>
          <p:cNvSpPr txBox="1"/>
          <p:nvPr/>
        </p:nvSpPr>
        <p:spPr>
          <a:xfrm>
            <a:off x="6362700" y="2495550"/>
            <a:ext cx="2057400" cy="6667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lock mutex_, seq = latest + 1, latest_ = snap (immutable)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74D36D9-B196-4266-B71F-61753F2C11BD}"/>
              </a:ext>
            </a:extLst>
          </p:cNvPr>
          <p:cNvSpPr/>
          <p:nvPr/>
        </p:nvSpPr>
        <p:spPr>
          <a:xfrm>
            <a:off x="8667750" y="2314575"/>
            <a:ext cx="171450" cy="228600"/>
          </a:xfrm>
          <a:prstGeom prst="rightArrow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0BE0DEE0-8BF3-4762-85FE-758F929C6891}"/>
              </a:ext>
            </a:extLst>
          </p:cNvPr>
          <p:cNvSpPr/>
          <p:nvPr/>
        </p:nvSpPr>
        <p:spPr>
          <a:xfrm>
            <a:off x="8839200" y="1619250"/>
            <a:ext cx="2438400" cy="1619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BF5E73F-783A-4792-92E2-0F9D9656B333}"/>
              </a:ext>
            </a:extLst>
          </p:cNvPr>
          <p:cNvSpPr txBox="1"/>
          <p:nvPr/>
        </p:nvSpPr>
        <p:spPr>
          <a:xfrm>
            <a:off x="9029700" y="1771650"/>
            <a:ext cx="2057400" cy="426720"/>
          </a:xfrm>
        </p:spPr>
        <p:txBody>
          <a:bodyPr wrap="square" rtlCol="0" lIns="0" tIns="0" rIns="0" bIns="0" anchor="t"/>
          <a:lstStyle/>
          <a:p>
            <a:pPr algn="l"/>
            <a:r>
              <a:rPr sz="2800" b="1">
                <a:solidFill>
                  <a:srgbClr val="38BDF8"/>
                </a:solidFill>
              </a:rPr>
              <a:t>4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5D5573D-32BD-4E03-9421-03050F9D743C}"/>
              </a:ext>
            </a:extLst>
          </p:cNvPr>
          <p:cNvSpPr txBox="1"/>
          <p:nvPr/>
        </p:nvSpPr>
        <p:spPr>
          <a:xfrm>
            <a:off x="9029700" y="2228850"/>
            <a:ext cx="20574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400" b="1">
                <a:solidFill>
                  <a:srgbClr val="E2E8F0"/>
                </a:solidFill>
              </a:rPr>
              <a:t>Sleep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D30485E-4AA2-4D01-AFE9-D6D68414835A}"/>
              </a:ext>
            </a:extLst>
          </p:cNvPr>
          <p:cNvSpPr txBox="1"/>
          <p:nvPr/>
        </p:nvSpPr>
        <p:spPr>
          <a:xfrm>
            <a:off x="9029700" y="2495550"/>
            <a:ext cx="2057400" cy="6858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94A3B8"/>
                </a:solidFill>
              </a:rPr>
              <a:t>cv_.wait_for(interval) with stop predicate — wakes instantly on stop()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41A50DE9-4536-403C-8B1D-42A350F6CB1C}"/>
              </a:ext>
            </a:extLst>
          </p:cNvPr>
          <p:cNvSpPr/>
          <p:nvPr/>
        </p:nvSpPr>
        <p:spPr>
          <a:xfrm>
            <a:off x="838200" y="3619500"/>
            <a:ext cx="10515600" cy="20002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A95C30B-782A-46C3-93FE-FD24B8DBFB9C}"/>
              </a:ext>
            </a:extLst>
          </p:cNvPr>
          <p:cNvSpPr txBox="1"/>
          <p:nvPr/>
        </p:nvSpPr>
        <p:spPr>
          <a:xfrm>
            <a:off x="1104900" y="3829050"/>
            <a:ext cx="47625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E2E8F0"/>
                </a:solidFill>
              </a:rPr>
              <a:t>Why this is safe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90F8150-9096-4630-9CC6-38243903F6B4}"/>
              </a:ext>
            </a:extLst>
          </p:cNvPr>
          <p:cNvSpPr txBox="1"/>
          <p:nvPr/>
        </p:nvSpPr>
        <p:spPr>
          <a:xfrm>
            <a:off x="1104900" y="4210050"/>
            <a:ext cx="49530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</a:rPr>
              <a:t>mutex_ guards latest_ only; readers copy the Snapshot out under the lock — no torn reads.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running_ and stop_requested_ are std::atomic&lt;bool&gt;; start()/stop() use exchange() so double calls are no-ops.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790D2F2-1F04-4C4B-A4B4-B794F6919C0E}"/>
              </a:ext>
            </a:extLst>
          </p:cNvPr>
          <p:cNvSpPr txBox="1"/>
          <p:nvPr/>
        </p:nvSpPr>
        <p:spPr>
          <a:xfrm>
            <a:off x="6362700" y="4210050"/>
            <a:ext cx="4724400" cy="1238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250">
                <a:solidFill>
                  <a:srgbClr val="E2E8F0"/>
                </a:solidFill>
              </a:rPr>
              <a:t>~Sampler() calls stop(): notify + join — an unjoined std::thread would std::terminate.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If procfs disappears mid-tick, the catch keeps the previous snapshot instead of crashing.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2EEF4E7-B2B6-4BFA-811E-D77DA928D185}"/>
              </a:ext>
            </a:extLst>
          </p:cNvPr>
          <p:cNvSpPr txBox="1"/>
          <p:nvPr/>
        </p:nvSpPr>
        <p:spPr>
          <a:xfrm>
            <a:off x="838200" y="5924550"/>
            <a:ext cx="10515600" cy="381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64748B"/>
                </a:solidFill>
              </a:rPr>
              <a:t>SIGINT / SIGTERM set g_stop (atomic) — the handler does nothing else, because signal handlers must stay async-signal-safe.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2DF6719-A57A-4D38-BE0E-EF7B44CFD070}"/>
              </a:ext>
            </a:extLst>
          </p:cNvPr>
          <p:cNvSpPr txBox="1"/>
          <p:nvPr/>
        </p:nvSpPr>
        <p:spPr>
          <a:xfrm>
            <a:off x="838200" y="419100"/>
            <a:ext cx="5715000" cy="533400"/>
          </a:xfrm>
        </p:spPr>
        <p:txBody>
          <a:bodyPr wrap="square" rtlCol="0" lIns="0" tIns="0" rIns="0" bIns="0" anchor="t"/>
          <a:lstStyle/>
          <a:p>
            <a:pPr algn="l"/>
            <a:r>
              <a:rPr sz="3200" b="1">
                <a:solidFill>
                  <a:srgbClr val="F1F5F9"/>
                </a:solidFill>
              </a:rPr>
              <a:t>Three ways to run it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7F70388-647E-45E6-AB6D-0E518F5C3759}"/>
              </a:ext>
            </a:extLst>
          </p:cNvPr>
          <p:cNvSpPr txBox="1"/>
          <p:nvPr/>
        </p:nvSpPr>
        <p:spPr>
          <a:xfrm>
            <a:off x="838200" y="12573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./build/procpulse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39D7814-7914-4895-A0CA-43F54554FF3E}"/>
              </a:ext>
            </a:extLst>
          </p:cNvPr>
          <p:cNvSpPr txBox="1"/>
          <p:nvPr/>
        </p:nvSpPr>
        <p:spPr>
          <a:xfrm>
            <a:off x="838200" y="1543050"/>
            <a:ext cx="5334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interactive menu — choices 1–5 print CPU, memory, processes, devices or a full snapshot; 0 quits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434B1E0-1EB2-421E-8082-FE5858A93401}"/>
              </a:ext>
            </a:extLst>
          </p:cNvPr>
          <p:cNvSpPr txBox="1"/>
          <p:nvPr/>
        </p:nvSpPr>
        <p:spPr>
          <a:xfrm>
            <a:off x="838200" y="22098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--once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E35B15F-D4CC-4B63-BC28-1D6AEACBB6BE}"/>
              </a:ext>
            </a:extLst>
          </p:cNvPr>
          <p:cNvSpPr txBox="1"/>
          <p:nvPr/>
        </p:nvSpPr>
        <p:spPr>
          <a:xfrm>
            <a:off x="838200" y="2495550"/>
            <a:ext cx="5334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one snapshot and exit — no thread started; ideal for scripts and for the fixture demo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7FF378-E874-4E6B-AC3F-4E4906CD6B71}"/>
              </a:ext>
            </a:extLst>
          </p:cNvPr>
          <p:cNvSpPr txBox="1"/>
          <p:nvPr/>
        </p:nvSpPr>
        <p:spPr>
          <a:xfrm>
            <a:off x="838200" y="31623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--live SECS --interval 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4B68C7A-7E89-44DE-9632-5735ECABA04A}"/>
              </a:ext>
            </a:extLst>
          </p:cNvPr>
          <p:cNvSpPr txBox="1"/>
          <p:nvPr/>
        </p:nvSpPr>
        <p:spPr>
          <a:xfrm>
            <a:off x="838200" y="3448050"/>
            <a:ext cx="5334000" cy="515112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sampler thread publishes every S seconds; main prints one [seq n] line per snapshot until the deadline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2381437-4A09-496F-8414-5121C11CC003}"/>
              </a:ext>
            </a:extLst>
          </p:cNvPr>
          <p:cNvSpPr txBox="1"/>
          <p:nvPr/>
        </p:nvSpPr>
        <p:spPr>
          <a:xfrm>
            <a:off x="838200" y="4114800"/>
            <a:ext cx="5334000" cy="266700"/>
          </a:xfrm>
        </p:spPr>
        <p:txBody>
          <a:bodyPr wrap="square" rtlCol="0" lIns="0" tIns="0" rIns="0" bIns="0" anchor="t"/>
          <a:lstStyle/>
          <a:p>
            <a:pPr algn="l"/>
            <a:r>
              <a:rPr sz="1500" b="1">
                <a:solidFill>
                  <a:srgbClr val="38BDF8"/>
                </a:solidFill>
                <a:latin typeface="Consolas"/>
                <a:ea typeface="Consolas"/>
              </a:rPr>
              <a:t>Ctrl-C anywhere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037EBA9-23E6-4188-8E22-EAD82799047E}"/>
              </a:ext>
            </a:extLst>
          </p:cNvPr>
          <p:cNvSpPr txBox="1"/>
          <p:nvPr/>
        </p:nvSpPr>
        <p:spPr>
          <a:xfrm>
            <a:off x="838200" y="4400550"/>
            <a:ext cx="5334000" cy="4953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E2E8F0"/>
                </a:solidFill>
              </a:rPr>
              <a:t>SIGINT sets the atomic g_stop; loops observe it and the sampler joins cleanly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2A61D1B-04CC-4843-8DA6-9684910F9348}"/>
              </a:ext>
            </a:extLst>
          </p:cNvPr>
          <p:cNvSpPr txBox="1"/>
          <p:nvPr/>
        </p:nvSpPr>
        <p:spPr>
          <a:xfrm>
            <a:off x="838200" y="5143500"/>
            <a:ext cx="53340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40000"/>
              </a:lnSpc>
            </a:pPr>
            <a:r>
              <a:rPr sz="1150">
                <a:solidFill>
                  <a:srgbClr val="86EFAC"/>
                </a:solidFill>
                <a:latin typeface="Consolas"/>
                <a:ea typeface="Consolas"/>
              </a:rPr>
              <a:t>[seq 1] cpu=0.0%  mem=9.3%  procs=84  devs=253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86EFAC"/>
                </a:solidFill>
                <a:latin typeface="Consolas"/>
                <a:ea typeface="Consolas"/>
              </a:rPr>
              <a:t>[seq 2] cpu=0.8%  mem=9.1%  procs=28  devs=253</a:t>
            </a:r>
          </a:p>
          <a:p>
            <a:pPr algn="l">
              <a:lnSpc>
                <a:spcPct val="140000"/>
              </a:lnSpc>
            </a:pPr>
            <a:r>
              <a:rPr sz="1150">
                <a:solidFill>
                  <a:srgbClr val="79C0FF"/>
                </a:solidFill>
                <a:latin typeface="Consolas"/>
                <a:ea typeface="Consolas"/>
              </a:rPr>
              <a:t>sampler stopped cleanly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AF8AC9EB-E2D5-4176-AC70-E0F6357310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72250" y="952500"/>
            <a:ext cx="49530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32F693-8289-4631-AE87-5D8408555F18}"/>
              </a:ext>
            </a:extLst>
          </p:cNvPr>
          <p:cNvSpPr txBox="1"/>
          <p:nvPr/>
        </p:nvSpPr>
        <p:spPr>
          <a:xfrm>
            <a:off x="838200" y="381000"/>
            <a:ext cx="95250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1F5F9"/>
                </a:solidFill>
              </a:rPr>
              <a:t>Testing: same code, fake root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1EB81FC-B5B8-4ED6-A89E-CC38435C391D}"/>
              </a:ext>
            </a:extLst>
          </p:cNvPr>
          <p:cNvSpPr/>
          <p:nvPr/>
        </p:nvSpPr>
        <p:spPr>
          <a:xfrm>
            <a:off x="8382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527F83-32C8-4C8C-AA3E-E5EC2075AD00}"/>
              </a:ext>
            </a:extLst>
          </p:cNvPr>
          <p:cNvSpPr txBox="1"/>
          <p:nvPr/>
        </p:nvSpPr>
        <p:spPr>
          <a:xfrm>
            <a:off x="10668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tests/fixtures = a miniature Linux root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proc/stat, stat2, loadavg, meminfo, pid 7 &amp; 42, sys/class/{block,net,thermal}, dev/{null,zero} — collectors run unchanged against it via --root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363145C-12AD-41D3-8E9C-137F2E5FAC5A}"/>
              </a:ext>
            </a:extLst>
          </p:cNvPr>
          <p:cNvSpPr/>
          <p:nvPr/>
        </p:nvSpPr>
        <p:spPr>
          <a:xfrm>
            <a:off x="62484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FA7B0F7-45F1-4C37-8EE8-ACC104D1FDB7}"/>
              </a:ext>
            </a:extLst>
          </p:cNvPr>
          <p:cNvSpPr txBox="1"/>
          <p:nvPr/>
        </p:nvSpPr>
        <p:spPr>
          <a:xfrm>
            <a:off x="64770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Unit tests — pure parse functions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test_collectors.cpp feeds exact strings: Δ 150/1000 → 15.0 % CPU; 1000 − 400 → 60.0 % memory; comm/stat edge cases. No kernel, no mocks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5668CB6-8550-4DC1-B789-A57C42E6E91E}"/>
              </a:ext>
            </a:extLst>
          </p:cNvPr>
          <p:cNvSpPr/>
          <p:nvPr/>
        </p:nvSpPr>
        <p:spPr>
          <a:xfrm>
            <a:off x="8382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271C3AD-5E78-469A-A48A-A694E1E959C3}"/>
              </a:ext>
            </a:extLst>
          </p:cNvPr>
          <p:cNvSpPr txBox="1"/>
          <p:nvPr/>
        </p:nvSpPr>
        <p:spPr>
          <a:xfrm>
            <a:off x="10668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Integration — the real binary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run_integration.sh runs build/procpulse --root tests/fixtures --once and greps exact lines: load average 0.5 0.6 0.6, Processes (2), device nodes 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D425E0B-5427-45FC-B6E3-3BC5992301C3}"/>
              </a:ext>
            </a:extLst>
          </p:cNvPr>
          <p:cNvSpPr/>
          <p:nvPr/>
        </p:nvSpPr>
        <p:spPr>
          <a:xfrm>
            <a:off x="62484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9B8F5C4-F69A-431A-A914-FE67A5E46C62}"/>
              </a:ext>
            </a:extLst>
          </p:cNvPr>
          <p:cNvSpPr txBox="1"/>
          <p:nvPr/>
        </p:nvSpPr>
        <p:spPr>
          <a:xfrm>
            <a:off x="64770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38BDF8"/>
                </a:solidFill>
              </a:rPr>
              <a:t>Live check on real procfs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--live 3 against the running system must print 'sampler stopped cleanly' — proves the thread starts and shuts down on real data</a:t>
            </a: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BCB59414-0823-45EC-A2B4-3828BA20BC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5191125"/>
            <a:ext cx="4038600" cy="11430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4F8AA19C-90E4-469D-AA1C-1D244F1B18A3}"/>
              </a:ext>
            </a:extLst>
          </p:cNvPr>
          <p:cNvSpPr txBox="1"/>
          <p:nvPr/>
        </p:nvSpPr>
        <p:spPr>
          <a:xfrm>
            <a:off x="5219700" y="5334000"/>
            <a:ext cx="5905500" cy="85725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5000"/>
              </a:lnSpc>
            </a:pPr>
            <a:r>
              <a:rPr sz="1250">
                <a:solidFill>
                  <a:srgbClr val="94A3B8"/>
                </a:solidFill>
              </a:rPr>
              <a:t>make test = unit + integration in one command; green on Ubuntu (WSL) g++ 15.2 with -Wall -Wextra -O2 -pthread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044D8CA-8579-4DF7-81A6-F3840D9B4BDE}"/>
              </a:ext>
            </a:extLst>
          </p:cNvPr>
          <p:cNvSpPr txBox="1"/>
          <p:nvPr/>
        </p:nvSpPr>
        <p:spPr>
          <a:xfrm>
            <a:off x="838200" y="381000"/>
            <a:ext cx="9525000" cy="4953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F1F5F9"/>
                </a:solidFill>
              </a:rPr>
              <a:t>What broke, and what I learned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8ADD7DA-71C8-4B5B-85C4-1A1A4FC80F7E}"/>
              </a:ext>
            </a:extLst>
          </p:cNvPr>
          <p:cNvSpPr/>
          <p:nvPr/>
        </p:nvSpPr>
        <p:spPr>
          <a:xfrm>
            <a:off x="8382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4BBAEAC3-1EA2-47BB-B579-C43D6F324801}"/>
              </a:ext>
            </a:extLst>
          </p:cNvPr>
          <p:cNvSpPr txBox="1"/>
          <p:nvPr/>
        </p:nvSpPr>
        <p:spPr>
          <a:xfrm>
            <a:off x="10668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MinGW had no threads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the win32-thread model lacks std::thread / mutex — compile errors, not runtime bugs. Linux is the target: builds and tests moved to WSL Ubuntu g++ 15.2, no platform shims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F9CF4A6-103E-4AA7-ACBD-24635335F4DD}"/>
              </a:ext>
            </a:extLst>
          </p:cNvPr>
          <p:cNvSpPr/>
          <p:nvPr/>
        </p:nvSpPr>
        <p:spPr>
          <a:xfrm>
            <a:off x="6248400" y="110490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E97582-9328-4A1B-A3B3-7F26AC4AA41A}"/>
              </a:ext>
            </a:extLst>
          </p:cNvPr>
          <p:cNvSpPr txBox="1"/>
          <p:nvPr/>
        </p:nvSpPr>
        <p:spPr>
          <a:xfrm>
            <a:off x="6477000" y="129540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The loadavg grep failed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the dashboard prints 0.5 0.6 0.6 (stream defaults) but my test grepped the fixture's 0.52 0.58 0.59 — fixed the expectation to the program's real formatting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C3299E6-D508-4C6D-BCD2-4D2FF9EA2170}"/>
              </a:ext>
            </a:extLst>
          </p:cNvPr>
          <p:cNvSpPr/>
          <p:nvPr/>
        </p:nvSpPr>
        <p:spPr>
          <a:xfrm>
            <a:off x="8382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685095-FE16-4FFE-8FC6-804267DA9394}"/>
              </a:ext>
            </a:extLst>
          </p:cNvPr>
          <p:cNvSpPr txBox="1"/>
          <p:nvPr/>
        </p:nvSpPr>
        <p:spPr>
          <a:xfrm>
            <a:off x="10668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Processes vanish mid-scan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reading /proc/&lt;pid&gt;/stat races process exit; per-PID try/catch skips gone processes, comm read first as name fallback — even ps has this race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E083301-2D35-41D0-8093-62DA93A02084}"/>
              </a:ext>
            </a:extLst>
          </p:cNvPr>
          <p:cNvSpPr/>
          <p:nvPr/>
        </p:nvSpPr>
        <p:spPr>
          <a:xfrm>
            <a:off x="6248400" y="3105150"/>
            <a:ext cx="5105400" cy="1809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40FC64D-787B-4BC7-B87F-1372CB044409}"/>
              </a:ext>
            </a:extLst>
          </p:cNvPr>
          <p:cNvSpPr txBox="1"/>
          <p:nvPr/>
        </p:nvSpPr>
        <p:spPr>
          <a:xfrm>
            <a:off x="6477000" y="3295650"/>
            <a:ext cx="4648200" cy="1524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BBF24"/>
                </a:solidFill>
              </a:rPr>
              <a:t>Shutdown could hang or terminate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E2E8F0"/>
                </a:solidFill>
              </a:rPr>
              <a:t>a sleeping loop ignores stop for a whole interval; an unjoined thread calls std::terminate — cv_.wait_for with predicate plus destructor-joins fixed both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14D4337-0420-414A-A7D8-C2F20B7186C3}"/>
              </a:ext>
            </a:extLst>
          </p:cNvPr>
          <p:cNvSpPr/>
          <p:nvPr/>
        </p:nvSpPr>
        <p:spPr>
          <a:xfrm>
            <a:off x="838200" y="5191125"/>
            <a:ext cx="10515600" cy="1047750"/>
          </a:xfrm>
          <a:prstGeom prst="roundRect">
            <a:avLst/>
          </a:prstGeom>
          <a:solidFill>
            <a:srgbClr val="101B33"/>
          </a:solidFill>
          <a:ln w="12700">
            <a:solidFill>
              <a:srgbClr val="24466E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4C7F93E-9767-400D-84F3-3007ABE8ECC5}"/>
              </a:ext>
            </a:extLst>
          </p:cNvPr>
          <p:cNvSpPr txBox="1"/>
          <p:nvPr/>
        </p:nvSpPr>
        <p:spPr>
          <a:xfrm>
            <a:off x="1104900" y="5334000"/>
            <a:ext cx="9982200" cy="7620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</a:rPr>
              <a:t>Every issue above is written up in docs/DEVLOG.md with symptom, cause and fix.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94A3B8"/>
                </a:solidFill>
              </a:rPr>
              <a:t>The devlog is part of the deliverable — debugging is engineering, not embarrassment.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8F570FC-79B6-49F9-B512-DD204822253E}"/>
              </a:ext>
            </a:extLst>
          </p:cNvPr>
          <p:cNvSpPr/>
          <p:nvPr/>
        </p:nvSpPr>
        <p:spPr>
          <a:xfrm>
            <a:off x="9525000" y="4191000"/>
            <a:ext cx="2095500" cy="2095500"/>
          </a:xfrm>
          <a:prstGeom prst="donut">
            <a:avLst/>
          </a:prstGeom>
          <a:solidFill>
            <a:srgbClr val="38BDF8">
              <a:alpha val="7843"/>
            </a:srgbClr>
          </a:solidFill>
          <a:ln w="25400">
            <a:solidFill>
              <a:srgbClr val="1E3A5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7D23D1E-4F98-4CC7-BFB1-C551A1B53B16}"/>
              </a:ext>
            </a:extLst>
          </p:cNvPr>
          <p:cNvSpPr txBox="1"/>
          <p:nvPr/>
        </p:nvSpPr>
        <p:spPr>
          <a:xfrm>
            <a:off x="838200" y="2247900"/>
            <a:ext cx="10515600" cy="762000"/>
          </a:xfrm>
        </p:spPr>
        <p:txBody>
          <a:bodyPr wrap="square" rtlCol="0" lIns="0" tIns="0" rIns="0" bIns="0" anchor="t"/>
          <a:lstStyle/>
          <a:p>
            <a:pPr algn="ctr"/>
            <a:r>
              <a:rPr sz="4400" b="1">
                <a:solidFill>
                  <a:srgbClr val="F1F5F9"/>
                </a:solidFill>
              </a:rPr>
              <a:t>Thank you — questions?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D98403C-9CE7-4F2B-B1A2-0B415368227B}"/>
              </a:ext>
            </a:extLst>
          </p:cNvPr>
          <p:cNvSpPr/>
          <p:nvPr/>
        </p:nvSpPr>
        <p:spPr>
          <a:xfrm>
            <a:off x="5143500" y="3143250"/>
            <a:ext cx="1905000" cy="38100"/>
          </a:xfrm>
          <a:prstGeom prst="rect">
            <a:avLst/>
          </a:prstGeom>
          <a:solidFill>
            <a:srgbClr val="38BDF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BDB0FB6-DB5B-4901-A45F-660B5EC27425}"/>
              </a:ext>
            </a:extLst>
          </p:cNvPr>
          <p:cNvSpPr txBox="1"/>
          <p:nvPr/>
        </p:nvSpPr>
        <p:spPr>
          <a:xfrm>
            <a:off x="838200" y="3429000"/>
            <a:ext cx="10515600" cy="323850"/>
          </a:xfrm>
        </p:spPr>
        <p:txBody>
          <a:bodyPr wrap="square" rtlCol="0" lIns="0" tIns="0" rIns="0" bIns="0" anchor="t"/>
          <a:lstStyle/>
          <a:p>
            <a:pPr algn="ctr"/>
            <a:r>
              <a:rPr sz="1600" b="1">
                <a:solidFill>
                  <a:srgbClr val="38BDF8"/>
                </a:solidFill>
                <a:latin typeface="Consolas"/>
                <a:ea typeface="Consolas"/>
              </a:rPr>
              <a:t>github.com/rudraprakashnayak/procpulse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9FDBAD7-A760-4D5D-993D-4F2FFA40FC35}"/>
              </a:ext>
            </a:extLst>
          </p:cNvPr>
          <p:cNvSpPr txBox="1"/>
          <p:nvPr/>
        </p:nvSpPr>
        <p:spPr>
          <a:xfrm>
            <a:off x="838200" y="3886200"/>
            <a:ext cx="10515600" cy="571500"/>
          </a:xfrm>
        </p:spPr>
        <p:txBody>
          <a:bodyPr wrap="square" rtlCol="0" lIns="0" tIns="0" rIns="0" bIns="0" anchor="t"/>
          <a:lstStyle/>
          <a:p>
            <a:pPr algn="ctr">
              <a:lnSpc>
                <a:spcPct val="140000"/>
              </a:lnSpc>
            </a:pPr>
            <a:r>
              <a:rPr sz="1300">
                <a:solidFill>
                  <a:srgbClr val="94A3B8"/>
                </a:solidFill>
              </a:rPr>
              <a:t>six documented stages — tags stage-1 … stage-6 and v1.0</a:t>
            </a:r>
          </a:p>
          <a:p>
            <a:pPr algn="ctr">
              <a:lnSpc>
                <a:spcPct val="140000"/>
              </a:lnSpc>
            </a:pPr>
            <a:r>
              <a:rPr sz="1300">
                <a:solidFill>
                  <a:srgbClr val="94A3B8"/>
                </a:solidFill>
              </a:rPr>
              <a:t>intro → PRD → design → implementation → tests → final report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F8174D-F9C0-4CC0-A49E-CB4208AC781A}"/>
              </a:ext>
            </a:extLst>
          </p:cNvPr>
          <p:cNvSpPr txBox="1"/>
          <p:nvPr/>
        </p:nvSpPr>
        <p:spPr>
          <a:xfrm>
            <a:off x="838200" y="6096000"/>
            <a:ext cx="10515600" cy="247650"/>
          </a:xfrm>
        </p:spPr>
        <p:txBody>
          <a:bodyPr wrap="square" rtlCol="0" lIns="0" tIns="0" rIns="0" bIns="0" anchor="t"/>
          <a:lstStyle/>
          <a:p>
            <a:pPr algn="ctr"/>
            <a:r>
              <a:rPr sz="1200">
                <a:solidFill>
                  <a:srgbClr val="64748B"/>
                </a:solidFill>
              </a:rPr>
              <a:t>ProcPulse — a C++17 Linux System Monitor &amp; Device Explorer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